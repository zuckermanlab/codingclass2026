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3" r:id="rId3"/>
  </p:sldMasterIdLst>
  <p:notesMasterIdLst>
    <p:notesMasterId r:id="rId8"/>
  </p:notesMasterIdLst>
  <p:sldIdLst>
    <p:sldId id="471" r:id="rId4"/>
    <p:sldId id="1108" r:id="rId5"/>
    <p:sldId id="425" r:id="rId6"/>
    <p:sldId id="110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B9F480-BE62-5042-A02F-721365540A7A}" v="7" dt="2026-07-28T00:39: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26"/>
  </p:normalViewPr>
  <p:slideViewPr>
    <p:cSldViewPr snapToGrid="0">
      <p:cViewPr varScale="1">
        <p:scale>
          <a:sx n="93" d="100"/>
          <a:sy n="93" d="100"/>
        </p:scale>
        <p:origin x="21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43B1A-38B9-B44D-8212-E6E6CDDA3841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3F5F4-E403-1B41-B058-75588EEAB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1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3F5F4-E403-1B41-B058-75588EEAB8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0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162E-BFD9-0F39-B7D2-276621F8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1983F-CA86-2F57-A63C-DFF29DC3A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13BF5-9532-6C47-F477-7AFCE8593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168F4-BDC8-24FE-AA8C-EC8540F07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3F5F4-E403-1B41-B058-75588EEAB8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09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7CCD-0FAB-FF41-1C5B-881A0314E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72321-3994-BC63-A73D-D52C27ED5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801F5-7461-51B5-97C1-025719943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8AFE8-BFCA-1A2F-1AB4-A3F05D53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EB6D5-4B0B-8B7A-D84C-1ACF7654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8126-ED10-2E7E-A03D-00D47394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A962F-EC23-6739-63A0-BC971F05F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057BC-F22E-F251-CA3F-5CC49080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07506-A09A-DFDC-2200-3B69A649D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ED315-C7B3-7A2E-CF19-D0B05985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3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07DDF-E5D7-0698-47DF-64320638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DF4CF-2410-F0D3-B52B-6BB25F067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44982-4C17-ACD8-BCFF-B2FC0D250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73489-3BBE-DBFC-3E77-81B2B7C7F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C37BD-ACF0-14E6-8216-8965A970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01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A187-67A0-6F87-EE5D-624E1890D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58CB6-C332-A837-BE4E-E2F850AEA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5CFE8-C45E-2988-9C85-E79E34368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8EAAF-E109-49DC-DBF1-41D34D3B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1D03E-D1C3-AE25-E533-96F529048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74DFD-8CD6-A42E-9FD6-2C482510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7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18A9-26B9-39B0-F8A6-B37A37F69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3197E-E484-D884-62C4-A677C97C7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3CE5E-3864-88E7-6958-D9C1972CC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A2747C-EEF6-1FD5-6D35-BFDF11E6C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8B194C-2DCE-D004-A7E7-3A7224F6D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90D60-6AFD-9105-86FF-587585D8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85B92-A1C4-6DBC-B106-ABA6D175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94914A-C2CA-AF42-7E56-1428A29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43BD-B14D-1CE1-DC90-EC7ED0CC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074CA-C352-5589-6F8A-95B3563B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169C1-9D65-EE9B-3660-9468B61D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A7AF3-116F-A923-1029-95C55B21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0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E7BCE-18E9-5ACA-9A8E-D5794EA34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B5F06-B997-CECF-93BA-2B213C91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C4D2-A729-9475-DC9D-1579E188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4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8CF0-3A15-5D17-A18A-3B71DA681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D4A26-670E-809B-8D2C-BAB903C46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C9763-0C76-4B4F-CE90-A9E7A9CBD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F68D2-7C7D-EA1F-6750-90D6DB932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2F66C-2ED0-78C4-62F0-3A86693E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6CA97-CD25-DC0D-425A-BC18B1D6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3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6854-2BA0-6D7B-2170-AC378135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7812C7-F524-2B36-D687-0CDEAB31C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AD108-A07E-164B-5B86-943405EA4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86852-AB1A-A6D3-2A0B-5A16E3E0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1EFAC-9F3B-C176-9A0D-94CBAC9D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FB2C1-7B1D-BF9E-602C-D50B9188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52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CCF2-6CEA-7380-2F55-29B198F0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C1F49-C326-889D-8A69-79511CF5C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2D9D3-F4BC-B32B-1411-393F90EA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08552-DDD8-0398-9C6E-AA8E345B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FDB94-5CA0-7D54-6007-169F7A89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1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1F7BF6-0264-A773-8E00-E0B8A1227E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A2F4E-1DB1-531E-78C1-D7FA3AD21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F36A6-7742-1222-4498-A19368C9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07D93-3FBD-EE44-9F0C-C01A0283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3C92D-35FC-56E2-6C8B-81BA331A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75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6B75-0320-0BA2-08C7-EA19A15C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6C0C-0A00-3270-2E7B-96E35CAA1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B3C35-7ECB-966E-203E-6B9FA5394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16DC8-0B05-4ADB-9D17-6E508664D7A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E6A62-6982-71B7-FF8A-06B982E19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32BE2-8EE1-F571-53FA-06554900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1D57-0E87-4797-BC5C-7B5246B60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18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BEDE-7568-54DE-DEF1-B49C18CD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1B758-338F-D73D-9E81-63F55FF6D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E79C7-75FF-2259-E035-73F455E48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81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C5B22-423D-A2D8-492E-3DC7B678E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16DC8-0B05-4ADB-9D17-6E508664D7A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CB10B-FE41-F332-7997-3F9834768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0E5DD-3484-FFE6-0480-58E536B7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21D57-0E87-4797-BC5C-7B5246B60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22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42684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1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16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74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16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34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672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964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534250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32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0746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1190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1725" y="590715"/>
            <a:ext cx="9668550" cy="4848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4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8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91" b="0" i="0">
                <a:solidFill>
                  <a:srgbClr val="396085"/>
                </a:solidFill>
                <a:latin typeface="Palatino Linotype"/>
                <a:cs typeface="Palatino Linotype"/>
              </a:defRPr>
            </a:lvl1pPr>
          </a:lstStyle>
          <a:p>
            <a:pPr marL="40264">
              <a:spcBef>
                <a:spcPts val="106"/>
              </a:spcBef>
            </a:pPr>
            <a:fld id="{81D60167-4931-47E6-BA6A-407CBD079E47}" type="slidenum">
              <a:rPr lang="en-US" spc="-26" smtClean="0"/>
              <a:pPr marL="40264">
                <a:spcBef>
                  <a:spcPts val="106"/>
                </a:spcBef>
              </a:pPr>
              <a:t>‹#›</a:t>
            </a:fld>
            <a:endParaRPr lang="en-US" spc="-26" dirty="0"/>
          </a:p>
        </p:txBody>
      </p:sp>
    </p:spTree>
    <p:extLst>
      <p:ext uri="{BB962C8B-B14F-4D97-AF65-F5344CB8AC3E}">
        <p14:creationId xmlns:p14="http://schemas.microsoft.com/office/powerpoint/2010/main" val="734777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B2AC3-B5C1-8FE1-4EBF-5C5799B31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3EB24-8716-2A69-0FAE-D11FC0B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72B88-161E-85ED-8971-5C3C78176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95699-2E7F-4544-B0C6-E1BA9AD84AF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81D72-6053-A6BA-8E5E-BFBE30315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18F4-2DA7-053F-BC3B-2A6170B95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4A69D-B1E6-0C4D-8E26-B5132E814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3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7727C5-740B-7311-D82D-D06A9FA12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E94BB-214A-E74F-174A-B94FF9B0A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C0B5A-BA1E-76B5-F88C-19EF7D006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16DC8-0B05-4ADB-9D17-6E508664D7A9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56BEE-EFD4-EF3B-26E9-2BAC1F65B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84414-3772-1218-DC6D-8D9CFAC94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21D57-0E87-4797-BC5C-7B5246B60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1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66338" rtl="0" eaLnBrk="1" latinLnBrk="0" hangingPunct="1">
        <a:lnSpc>
          <a:spcPct val="90000"/>
        </a:lnSpc>
        <a:spcBef>
          <a:spcPct val="0"/>
        </a:spcBef>
        <a:buNone/>
        <a:defRPr sz="4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584" indent="-241584" algn="l" defTabSz="966338" rtl="0" eaLnBrk="1" latinLnBrk="0" hangingPunct="1">
        <a:lnSpc>
          <a:spcPct val="90000"/>
        </a:lnSpc>
        <a:spcBef>
          <a:spcPts val="1057"/>
        </a:spcBef>
        <a:buFont typeface="Arial" panose="020B0604020202020204" pitchFamily="34" charset="0"/>
        <a:buChar char="•"/>
        <a:defRPr sz="2959" kern="1200">
          <a:solidFill>
            <a:schemeClr val="tx1"/>
          </a:solidFill>
          <a:latin typeface="+mn-lt"/>
          <a:ea typeface="+mn-ea"/>
          <a:cs typeface="+mn-cs"/>
        </a:defRPr>
      </a:lvl1pPr>
      <a:lvl2pPr marL="724753" indent="-241584" algn="l" defTabSz="966338" rtl="0" eaLnBrk="1" latinLnBrk="0" hangingPunct="1">
        <a:lnSpc>
          <a:spcPct val="90000"/>
        </a:lnSpc>
        <a:spcBef>
          <a:spcPts val="528"/>
        </a:spcBef>
        <a:buFont typeface="Arial" panose="020B0604020202020204" pitchFamily="34" charset="0"/>
        <a:buChar char="•"/>
        <a:defRPr sz="2536" kern="1200">
          <a:solidFill>
            <a:schemeClr val="tx1"/>
          </a:solidFill>
          <a:latin typeface="+mn-lt"/>
          <a:ea typeface="+mn-ea"/>
          <a:cs typeface="+mn-cs"/>
        </a:defRPr>
      </a:lvl2pPr>
      <a:lvl3pPr marL="1207922" indent="-241584" algn="l" defTabSz="966338" rtl="0" eaLnBrk="1" latinLnBrk="0" hangingPunct="1">
        <a:lnSpc>
          <a:spcPct val="90000"/>
        </a:lnSpc>
        <a:spcBef>
          <a:spcPts val="528"/>
        </a:spcBef>
        <a:buFont typeface="Arial" panose="020B0604020202020204" pitchFamily="34" charset="0"/>
        <a:buChar char="•"/>
        <a:defRPr sz="2114" kern="1200">
          <a:solidFill>
            <a:schemeClr val="tx1"/>
          </a:solidFill>
          <a:latin typeface="+mn-lt"/>
          <a:ea typeface="+mn-ea"/>
          <a:cs typeface="+mn-cs"/>
        </a:defRPr>
      </a:lvl3pPr>
      <a:lvl4pPr marL="1691091" indent="-241584" algn="l" defTabSz="966338" rtl="0" eaLnBrk="1" latinLnBrk="0" hangingPunct="1">
        <a:lnSpc>
          <a:spcPct val="90000"/>
        </a:lnSpc>
        <a:spcBef>
          <a:spcPts val="528"/>
        </a:spcBef>
        <a:buFont typeface="Arial" panose="020B0604020202020204" pitchFamily="34" charset="0"/>
        <a:buChar char="•"/>
        <a:defRPr sz="1902" kern="1200">
          <a:solidFill>
            <a:schemeClr val="tx1"/>
          </a:solidFill>
          <a:latin typeface="+mn-lt"/>
          <a:ea typeface="+mn-ea"/>
          <a:cs typeface="+mn-cs"/>
        </a:defRPr>
      </a:lvl4pPr>
      <a:lvl5pPr marL="2174260" indent="-241584" algn="l" defTabSz="966338" rtl="0" eaLnBrk="1" latinLnBrk="0" hangingPunct="1">
        <a:lnSpc>
          <a:spcPct val="90000"/>
        </a:lnSpc>
        <a:spcBef>
          <a:spcPts val="528"/>
        </a:spcBef>
        <a:buFont typeface="Arial" panose="020B0604020202020204" pitchFamily="34" charset="0"/>
        <a:buChar char="•"/>
        <a:defRPr sz="1902" kern="1200">
          <a:solidFill>
            <a:schemeClr val="tx1"/>
          </a:solidFill>
          <a:latin typeface="+mn-lt"/>
          <a:ea typeface="+mn-ea"/>
          <a:cs typeface="+mn-cs"/>
        </a:defRPr>
      </a:lvl5pPr>
      <a:lvl6pPr marL="2657429" indent="-241584" algn="l" defTabSz="966338" rtl="0" eaLnBrk="1" latinLnBrk="0" hangingPunct="1">
        <a:lnSpc>
          <a:spcPct val="90000"/>
        </a:lnSpc>
        <a:spcBef>
          <a:spcPts val="528"/>
        </a:spcBef>
        <a:buFont typeface="Arial" panose="020B0604020202020204" pitchFamily="34" charset="0"/>
        <a:buChar char="•"/>
        <a:defRPr sz="1902" kern="1200">
          <a:solidFill>
            <a:schemeClr val="tx1"/>
          </a:solidFill>
          <a:latin typeface="+mn-lt"/>
          <a:ea typeface="+mn-ea"/>
          <a:cs typeface="+mn-cs"/>
        </a:defRPr>
      </a:lvl6pPr>
      <a:lvl7pPr marL="3140598" indent="-241584" algn="l" defTabSz="966338" rtl="0" eaLnBrk="1" latinLnBrk="0" hangingPunct="1">
        <a:lnSpc>
          <a:spcPct val="90000"/>
        </a:lnSpc>
        <a:spcBef>
          <a:spcPts val="528"/>
        </a:spcBef>
        <a:buFont typeface="Arial" panose="020B0604020202020204" pitchFamily="34" charset="0"/>
        <a:buChar char="•"/>
        <a:defRPr sz="1902" kern="1200">
          <a:solidFill>
            <a:schemeClr val="tx1"/>
          </a:solidFill>
          <a:latin typeface="+mn-lt"/>
          <a:ea typeface="+mn-ea"/>
          <a:cs typeface="+mn-cs"/>
        </a:defRPr>
      </a:lvl7pPr>
      <a:lvl8pPr marL="3623767" indent="-241584" algn="l" defTabSz="966338" rtl="0" eaLnBrk="1" latinLnBrk="0" hangingPunct="1">
        <a:lnSpc>
          <a:spcPct val="90000"/>
        </a:lnSpc>
        <a:spcBef>
          <a:spcPts val="528"/>
        </a:spcBef>
        <a:buFont typeface="Arial" panose="020B0604020202020204" pitchFamily="34" charset="0"/>
        <a:buChar char="•"/>
        <a:defRPr sz="1902" kern="1200">
          <a:solidFill>
            <a:schemeClr val="tx1"/>
          </a:solidFill>
          <a:latin typeface="+mn-lt"/>
          <a:ea typeface="+mn-ea"/>
          <a:cs typeface="+mn-cs"/>
        </a:defRPr>
      </a:lvl8pPr>
      <a:lvl9pPr marL="4106936" indent="-241584" algn="l" defTabSz="966338" rtl="0" eaLnBrk="1" latinLnBrk="0" hangingPunct="1">
        <a:lnSpc>
          <a:spcPct val="90000"/>
        </a:lnSpc>
        <a:spcBef>
          <a:spcPts val="528"/>
        </a:spcBef>
        <a:buFont typeface="Arial" panose="020B0604020202020204" pitchFamily="34" charset="0"/>
        <a:buChar char="•"/>
        <a:defRPr sz="19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6338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1pPr>
      <a:lvl2pPr marL="483169" algn="l" defTabSz="966338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2pPr>
      <a:lvl3pPr marL="966338" algn="l" defTabSz="966338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3pPr>
      <a:lvl4pPr marL="1449507" algn="l" defTabSz="966338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4pPr>
      <a:lvl5pPr marL="1932676" algn="l" defTabSz="966338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5pPr>
      <a:lvl6pPr marL="2415845" algn="l" defTabSz="966338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6pPr>
      <a:lvl7pPr marL="2899014" algn="l" defTabSz="966338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7pPr>
      <a:lvl8pPr marL="3382183" algn="l" defTabSz="966338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8pPr>
      <a:lvl9pPr marL="3865352" algn="l" defTabSz="966338" rtl="0" eaLnBrk="1" latinLnBrk="0" hangingPunct="1">
        <a:defRPr sz="19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6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5EE4-BA44-27C7-3F3C-7355D04D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743CE-2DFD-C820-E05E-197B93A7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Association between two variables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8D102-6CB9-0EB0-239D-FF0BDF7FCA02}"/>
              </a:ext>
            </a:extLst>
          </p:cNvPr>
          <p:cNvSpPr txBox="1"/>
          <p:nvPr/>
        </p:nvSpPr>
        <p:spPr>
          <a:xfrm>
            <a:off x="6585973" y="2121193"/>
            <a:ext cx="4670419" cy="272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6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2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want to find:</a:t>
            </a:r>
          </a:p>
          <a:p>
            <a:pPr marL="301981" marR="0" lvl="0" indent="-301981" algn="l" defTabSz="966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there a </a:t>
            </a:r>
            <a:r>
              <a:rPr kumimoji="0" lang="en-US" sz="1902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linear</a:t>
            </a:r>
            <a:r>
              <a:rPr kumimoji="0" lang="en-US" sz="190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association between </a:t>
            </a:r>
            <a:r>
              <a:rPr kumimoji="0" lang="en-US" sz="1902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190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1902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-US" sz="190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  <a:p>
            <a:pPr marL="301981" marR="0" lvl="0" indent="-301981" algn="l" defTabSz="966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90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so, what is the linear equation that best represents it?</a:t>
            </a:r>
          </a:p>
          <a:p>
            <a:pPr lvl="1" defTabSz="966338"/>
            <a:r>
              <a:rPr kumimoji="0" lang="en-US" sz="190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 = mx + c</a:t>
            </a:r>
          </a:p>
          <a:p>
            <a:pPr marL="301981" marR="0" lvl="0" indent="-301981" algn="l" defTabSz="966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90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66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Unknowns are the line intercept (b) </a:t>
            </a:r>
          </a:p>
          <a:p>
            <a:pPr marL="0" marR="0" lvl="0" indent="0" algn="l" defTabSz="966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2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and the line slope (m)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61930-3264-C8F3-1223-66CAAC3A83DB}"/>
              </a:ext>
            </a:extLst>
          </p:cNvPr>
          <p:cNvSpPr txBox="1"/>
          <p:nvPr/>
        </p:nvSpPr>
        <p:spPr>
          <a:xfrm>
            <a:off x="1614684" y="5831257"/>
            <a:ext cx="39394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6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medium.com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/data-science/linear-regression-using-gradient-descent-97a6c8700931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3F2DB-A000-A299-E945-A4EE256FD6FF}"/>
              </a:ext>
            </a:extLst>
          </p:cNvPr>
          <p:cNvSpPr txBox="1"/>
          <p:nvPr/>
        </p:nvSpPr>
        <p:spPr>
          <a:xfrm>
            <a:off x="6762044" y="5294489"/>
            <a:ext cx="2808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Correlation is not causation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E30F0B-95A8-0A8A-BBF4-E6256B694037}"/>
              </a:ext>
            </a:extLst>
          </p:cNvPr>
          <p:cNvGrpSpPr/>
          <p:nvPr/>
        </p:nvGrpSpPr>
        <p:grpSpPr>
          <a:xfrm>
            <a:off x="1823215" y="1632675"/>
            <a:ext cx="4116059" cy="4116059"/>
            <a:chOff x="619314" y="1305323"/>
            <a:chExt cx="4116059" cy="4116059"/>
          </a:xfrm>
        </p:grpSpPr>
        <p:sp>
          <p:nvSpPr>
            <p:cNvPr id="5" name="object 2">
              <a:extLst>
                <a:ext uri="{FF2B5EF4-FFF2-40B4-BE49-F238E27FC236}">
                  <a16:creationId xmlns:a16="http://schemas.microsoft.com/office/drawing/2014/main" id="{AC9F9429-2E05-315B-4C76-BD5BFFD32758}"/>
                </a:ext>
              </a:extLst>
            </p:cNvPr>
            <p:cNvSpPr/>
            <p:nvPr/>
          </p:nvSpPr>
          <p:spPr>
            <a:xfrm>
              <a:off x="619314" y="1305323"/>
              <a:ext cx="4116059" cy="411605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D41A49-8C0C-2471-379B-DAFC6148E957}"/>
                </a:ext>
              </a:extLst>
            </p:cNvPr>
            <p:cNvSpPr/>
            <p:nvPr/>
          </p:nvSpPr>
          <p:spPr>
            <a:xfrm>
              <a:off x="4197350" y="1305323"/>
              <a:ext cx="533400" cy="2170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A7EA05-7958-4525-BD94-B3CF2BF14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1371722"/>
            <a:ext cx="5865364" cy="439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c 7">
            <a:extLst>
              <a:ext uri="{FF2B5EF4-FFF2-40B4-BE49-F238E27FC236}">
                <a16:creationId xmlns:a16="http://schemas.microsoft.com/office/drawing/2014/main" id="{AC830E50-FDFC-D238-9CE8-883BC7568879}"/>
              </a:ext>
            </a:extLst>
          </p:cNvPr>
          <p:cNvSpPr/>
          <p:nvPr/>
        </p:nvSpPr>
        <p:spPr>
          <a:xfrm rot="8036572">
            <a:off x="5854166" y="4583084"/>
            <a:ext cx="1205565" cy="1437050"/>
          </a:xfrm>
          <a:prstGeom prst="arc">
            <a:avLst>
              <a:gd name="adj1" fmla="val 15690251"/>
              <a:gd name="adj2" fmla="val 650499"/>
            </a:avLst>
          </a:prstGeom>
          <a:ln w="28575"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B47F6-0B5E-9AF4-2A0C-8A5E3A301CF8}"/>
              </a:ext>
            </a:extLst>
          </p:cNvPr>
          <p:cNvSpPr txBox="1"/>
          <p:nvPr/>
        </p:nvSpPr>
        <p:spPr>
          <a:xfrm>
            <a:off x="2230816" y="1909973"/>
            <a:ext cx="20758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80890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D2EB4-CCEF-88C8-CF8C-26E57C9C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59D7160-2A43-6306-BAA0-183EE9F14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DFBE73-D4F2-B010-E5ED-CAAD43F29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B5F9AE-14DE-AFAB-789F-6781E581F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866819-5696-0DD2-9254-0EE588853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F83537-CFBA-2ACB-3E69-15D5868DF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0CB460-2434-1691-B4D0-2A74F2DB0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A3A4E5-6F6C-D8EA-3D4C-5597B95BB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867" y="158782"/>
            <a:ext cx="11870265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A76855-B65D-E962-85D1-0C3E60991E63}"/>
              </a:ext>
            </a:extLst>
          </p:cNvPr>
          <p:cNvSpPr txBox="1"/>
          <p:nvPr/>
        </p:nvSpPr>
        <p:spPr>
          <a:xfrm>
            <a:off x="3080158" y="370444"/>
            <a:ext cx="6046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g Caslon Medium" panose="02000603090000020003" pitchFamily="2" charset="-79"/>
                <a:ea typeface="+mn-ea"/>
                <a:cs typeface="Big Caslon Medium" panose="02000603090000020003" pitchFamily="2" charset="-79"/>
              </a:rPr>
              <a:t>Finding the Line of Best Fit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BD53A00E-DC45-B5AD-4FA3-3043421CB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16" y="1319279"/>
            <a:ext cx="5857343" cy="439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object 4">
            <a:extLst>
              <a:ext uri="{FF2B5EF4-FFF2-40B4-BE49-F238E27FC236}">
                <a16:creationId xmlns:a16="http://schemas.microsoft.com/office/drawing/2014/main" id="{F9C9D82F-6E10-3219-4A24-C86C22FAB8D6}"/>
              </a:ext>
            </a:extLst>
          </p:cNvPr>
          <p:cNvSpPr/>
          <p:nvPr/>
        </p:nvSpPr>
        <p:spPr>
          <a:xfrm>
            <a:off x="6289288" y="1544316"/>
            <a:ext cx="5377758" cy="39991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9C05EE-2362-4D2B-7DD7-3F8F02F88DEF}"/>
              </a:ext>
            </a:extLst>
          </p:cNvPr>
          <p:cNvSpPr txBox="1"/>
          <p:nvPr/>
        </p:nvSpPr>
        <p:spPr>
          <a:xfrm>
            <a:off x="7359805" y="462904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residuals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77FEBD8-1BD1-7811-1111-AC9F62889661}"/>
              </a:ext>
            </a:extLst>
          </p:cNvPr>
          <p:cNvCxnSpPr>
            <a:cxnSpLocks/>
          </p:cNvCxnSpPr>
          <p:nvPr/>
        </p:nvCxnSpPr>
        <p:spPr>
          <a:xfrm>
            <a:off x="8513323" y="3855808"/>
            <a:ext cx="0" cy="1147251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ECF3FCDF-1983-3D2F-9B66-DC2E9A241F7D}"/>
              </a:ext>
            </a:extLst>
          </p:cNvPr>
          <p:cNvSpPr txBox="1"/>
          <p:nvPr/>
        </p:nvSpPr>
        <p:spPr>
          <a:xfrm>
            <a:off x="2218634" y="5791748"/>
            <a:ext cx="7559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To find the best-fit line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Minimize Residuals</a:t>
            </a:r>
          </a:p>
        </p:txBody>
      </p:sp>
      <p:sp>
        <p:nvSpPr>
          <p:cNvPr id="103" name="object 233">
            <a:extLst>
              <a:ext uri="{FF2B5EF4-FFF2-40B4-BE49-F238E27FC236}">
                <a16:creationId xmlns:a16="http://schemas.microsoft.com/office/drawing/2014/main" id="{18C08010-78F7-DB4C-E245-3ECCD0FE956A}"/>
              </a:ext>
            </a:extLst>
          </p:cNvPr>
          <p:cNvSpPr/>
          <p:nvPr/>
        </p:nvSpPr>
        <p:spPr>
          <a:xfrm>
            <a:off x="2208740" y="2138199"/>
            <a:ext cx="203713" cy="2426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66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0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object 234">
            <a:extLst>
              <a:ext uri="{FF2B5EF4-FFF2-40B4-BE49-F238E27FC236}">
                <a16:creationId xmlns:a16="http://schemas.microsoft.com/office/drawing/2014/main" id="{DF165FCD-C2D2-997D-D438-66F70B7AD23C}"/>
              </a:ext>
            </a:extLst>
          </p:cNvPr>
          <p:cNvSpPr/>
          <p:nvPr/>
        </p:nvSpPr>
        <p:spPr>
          <a:xfrm>
            <a:off x="1476684" y="2117368"/>
            <a:ext cx="197059" cy="2482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66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0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45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3" grpId="0" animBg="1"/>
      <p:bldP spid="10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BF88-FF98-BDEA-4AD5-AE00055D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92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How good is the correlation?</a:t>
            </a:r>
            <a:endParaRPr lang="en-US" i="1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355707-117F-1A93-CA1D-DCFC5A6217BC}"/>
                  </a:ext>
                </a:extLst>
              </p:cNvPr>
              <p:cNvSpPr txBox="1"/>
              <p:nvPr/>
            </p:nvSpPr>
            <p:spPr>
              <a:xfrm>
                <a:off x="1728509" y="4830486"/>
                <a:ext cx="8777166" cy="834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6633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536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536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p>
                          <m:r>
                            <a:rPr kumimoji="0" lang="en-US" sz="2536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536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sz="2536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variance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predicted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values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variance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observed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n-US" sz="2536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values</m:t>
                          </m:r>
                        </m:den>
                      </m:f>
                    </m:oMath>
                  </m:oMathPara>
                </a14:m>
                <a:endParaRPr kumimoji="0" lang="en-US" sz="253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355707-117F-1A93-CA1D-DCFC5A621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509" y="4830486"/>
                <a:ext cx="8777166" cy="834074"/>
              </a:xfrm>
              <a:prstGeom prst="rect">
                <a:avLst/>
              </a:prstGeom>
              <a:blipFill>
                <a:blip r:embed="rId3"/>
                <a:stretch>
                  <a:fillRect t="-1515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4">
            <a:extLst>
              <a:ext uri="{FF2B5EF4-FFF2-40B4-BE49-F238E27FC236}">
                <a16:creationId xmlns:a16="http://schemas.microsoft.com/office/drawing/2014/main" id="{E8CA0C4A-2029-E93A-316C-81A08DE43476}"/>
              </a:ext>
            </a:extLst>
          </p:cNvPr>
          <p:cNvSpPr/>
          <p:nvPr/>
        </p:nvSpPr>
        <p:spPr>
          <a:xfrm>
            <a:off x="3977888" y="325116"/>
            <a:ext cx="4734312" cy="34340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8583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7BD50-B3E7-26B6-D9C4-F2F8C1A1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n example of a clustering animation in this article. Image by Author.">
            <a:extLst>
              <a:ext uri="{FF2B5EF4-FFF2-40B4-BE49-F238E27FC236}">
                <a16:creationId xmlns:a16="http://schemas.microsoft.com/office/drawing/2014/main" id="{AB42BD8C-D529-1A01-4C88-1EF9A61E7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1117600"/>
            <a:ext cx="6590400" cy="494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5DF19B-A8F1-9510-F54A-8962037FF132}"/>
              </a:ext>
            </a:extLst>
          </p:cNvPr>
          <p:cNvSpPr txBox="1"/>
          <p:nvPr/>
        </p:nvSpPr>
        <p:spPr>
          <a:xfrm>
            <a:off x="3556000" y="61468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towardsdatascience.com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/creating-animation-to-show-4-centroid-based-clustering-algorithms-using-python-and-sklearn-d397ade89cb3/</a:t>
            </a:r>
          </a:p>
        </p:txBody>
      </p:sp>
    </p:spTree>
    <p:extLst>
      <p:ext uri="{BB962C8B-B14F-4D97-AF65-F5344CB8AC3E}">
        <p14:creationId xmlns:p14="http://schemas.microsoft.com/office/powerpoint/2010/main" val="1016594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102</Words>
  <Application>Microsoft Macintosh PowerPoint</Application>
  <PresentationFormat>Widescreen</PresentationFormat>
  <Paragraphs>19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Aptos</vt:lpstr>
      <vt:lpstr>Aptos Display</vt:lpstr>
      <vt:lpstr>Arial</vt:lpstr>
      <vt:lpstr>Big Caslon Medium</vt:lpstr>
      <vt:lpstr>Calibri</vt:lpstr>
      <vt:lpstr>Calibri Light</vt:lpstr>
      <vt:lpstr>Cambria Math</vt:lpstr>
      <vt:lpstr>Franklin Gothic Book</vt:lpstr>
      <vt:lpstr>Palatino Linotype</vt:lpstr>
      <vt:lpstr>Office Theme</vt:lpstr>
      <vt:lpstr>1_Office Theme</vt:lpstr>
      <vt:lpstr>1_Crop</vt:lpstr>
      <vt:lpstr>Association between two variables</vt:lpstr>
      <vt:lpstr>PowerPoint Presentation</vt:lpstr>
      <vt:lpstr>How good is the correlation?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Shelby Santos</dc:creator>
  <cp:lastModifiedBy>Shelby Santos</cp:lastModifiedBy>
  <cp:revision>2</cp:revision>
  <dcterms:created xsi:type="dcterms:W3CDTF">2026-07-28T00:28:26Z</dcterms:created>
  <dcterms:modified xsi:type="dcterms:W3CDTF">2026-07-28T22:59:31Z</dcterms:modified>
</cp:coreProperties>
</file>